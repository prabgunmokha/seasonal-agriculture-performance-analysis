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4" r:id="rId12"/>
    <p:sldId id="345" r:id="rId13"/>
    <p:sldId id="341"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7" d="100"/>
          <a:sy n="77" d="100"/>
        </p:scale>
        <p:origin x="188" y="6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71764" y="3521161"/>
            <a:ext cx="7124007" cy="861497"/>
          </a:xfrm>
        </p:spPr>
        <p:txBody>
          <a:bodyPr vert="horz" lIns="91440" tIns="45720" rIns="91440" bIns="45720" rtlCol="0" anchor="t">
            <a:normAutofit/>
          </a:bodyPr>
          <a:lstStyle/>
          <a:p>
            <a:r>
              <a:rPr lang="en-US" b="0" dirty="0">
                <a:solidFill>
                  <a:schemeClr val="tx1"/>
                </a:solidFill>
              </a:rPr>
              <a:t>[Prabgun Mokha </a:t>
            </a:r>
            <a:endParaRPr lang="en-IN" b="0" dirty="0">
              <a:solidFill>
                <a:schemeClr val="tx1"/>
              </a:solidFill>
            </a:endParaRPr>
          </a:p>
          <a:p>
            <a:r>
              <a:rPr lang="en-US" b="0" dirty="0">
                <a:solidFill>
                  <a:schemeClr val="tx1"/>
                </a:solidFill>
              </a:rPr>
              <a:t>Dr. Akhilesh Das Gupta Institute of Professional Studies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978552" cy="743448"/>
          </a:xfrm>
        </p:spPr>
        <p:txBody>
          <a:bodyPr>
            <a:normAutofit/>
          </a:bodyPr>
          <a:lstStyle/>
          <a:p>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457792"/>
            <a:ext cx="4121670" cy="646331"/>
          </a:xfrm>
          <a:prstGeom prst="rect">
            <a:avLst/>
          </a:prstGeom>
          <a:noFill/>
        </p:spPr>
        <p:txBody>
          <a:bodyPr wrap="square" rtlCol="0">
            <a:spAutoFit/>
          </a:bodyPr>
          <a:lstStyle/>
          <a:p>
            <a:r>
              <a:rPr lang="en-US" b="1" dirty="0"/>
              <a:t>AICTE STU ID : </a:t>
            </a:r>
            <a:r>
              <a:rPr lang="en-IN" b="1" dirty="0"/>
              <a:t>STU699c35e18daf61771845089</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marL="0" indent="0">
              <a:lnSpc>
                <a:spcPct val="100000"/>
              </a:lnSpc>
              <a:buNone/>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pPr algn="ctr"/>
            <a:r>
              <a:rPr lang="en-GB" dirty="0"/>
              <a:t>Project Description</a:t>
            </a:r>
            <a:br>
              <a:rPr lang="en-GB" dirty="0"/>
            </a:br>
            <a:br>
              <a:rPr lang="en-IN"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AC322D4F-C210-67D0-EA59-0E87738B185A}"/>
              </a:ext>
            </a:extLst>
          </p:cNvPr>
          <p:cNvSpPr txBox="1"/>
          <p:nvPr/>
        </p:nvSpPr>
        <p:spPr>
          <a:xfrm>
            <a:off x="944117" y="1942725"/>
            <a:ext cx="6458990" cy="4401205"/>
          </a:xfrm>
          <a:prstGeom prst="rect">
            <a:avLst/>
          </a:prstGeom>
          <a:noFill/>
        </p:spPr>
        <p:txBody>
          <a:bodyPr wrap="square" rtlCol="0">
            <a:spAutoFit/>
          </a:bodyPr>
          <a:lstStyle/>
          <a:p>
            <a:r>
              <a:rPr lang="en-IN" sz="2000" dirty="0"/>
              <a:t>This project </a:t>
            </a:r>
            <a:r>
              <a:rPr lang="en-IN" sz="2000" dirty="0" err="1"/>
              <a:t>analyzes</a:t>
            </a:r>
            <a:r>
              <a:rPr lang="en-IN" sz="2000" dirty="0"/>
              <a:t> seasonal agriculture performance using farm-level data across crops, locations and growing seasons. The dataset includes rainfall, temperature, soil condition, irrigation method, fertilizer use, yield, production, cost, revenue, profit, water use and crop health risk. The analysis focuses on comparing Kharif, Rabi and Zaid seasons to understand how farm outcomes change with seasonal conditions. It uses data cleaning, statistical summaries, visualizations and seasonal comparison tables to identify important patterns, performance differences and practical insights.</a:t>
            </a:r>
            <a:br>
              <a:rPr lang="en-IN" sz="2000" dirty="0"/>
            </a:br>
            <a:br>
              <a:rPr lang="en-GB" sz="2000" dirty="0"/>
            </a:br>
            <a:endParaRPr lang="en-IN" sz="20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r>
              <a:rPr lang="en-IN" sz="3600" dirty="0"/>
              <a:t>Farmers</a:t>
            </a:r>
          </a:p>
          <a:p>
            <a:r>
              <a:rPr lang="en-IN" sz="3600" dirty="0"/>
              <a:t>agricultural planners</a:t>
            </a:r>
          </a:p>
          <a:p>
            <a:r>
              <a:rPr lang="en-IN" sz="3600" dirty="0"/>
              <a:t>students</a:t>
            </a:r>
          </a:p>
          <a:p>
            <a:r>
              <a:rPr lang="en-IN" sz="3600" dirty="0"/>
              <a:t>researchers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2194558" y="1432560"/>
            <a:ext cx="7223761" cy="5243448"/>
          </a:xfrm>
        </p:spPr>
        <p:txBody>
          <a:bodyPr/>
          <a:lstStyle/>
          <a:p>
            <a:r>
              <a:rPr lang="en-IN" dirty="0"/>
              <a:t>Pandas</a:t>
            </a:r>
          </a:p>
          <a:p>
            <a:r>
              <a:rPr lang="en-IN" dirty="0"/>
              <a:t>NumPy</a:t>
            </a:r>
          </a:p>
          <a:p>
            <a:r>
              <a:rPr lang="en-IN" dirty="0"/>
              <a:t>Matplotlib</a:t>
            </a:r>
          </a:p>
          <a:p>
            <a:r>
              <a:rPr lang="en-IN" dirty="0"/>
              <a:t>Seaborn</a:t>
            </a:r>
          </a:p>
          <a:p>
            <a:r>
              <a:rPr lang="en-IN" dirty="0"/>
              <a:t>Jupyter Notebook</a:t>
            </a:r>
          </a:p>
          <a:p>
            <a:r>
              <a:rPr lang="en-IN" dirty="0"/>
              <a:t>CSV Dataset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954ABF6C-1CCA-3A23-0BFC-E3C8A195F6D9}"/>
              </a:ext>
            </a:extLst>
          </p:cNvPr>
          <p:cNvPicPr>
            <a:picLocks noChangeAspect="1"/>
          </p:cNvPicPr>
          <p:nvPr/>
        </p:nvPicPr>
        <p:blipFill>
          <a:blip r:embed="rId3"/>
          <a:stretch>
            <a:fillRect/>
          </a:stretch>
        </p:blipFill>
        <p:spPr>
          <a:xfrm>
            <a:off x="807164" y="1201586"/>
            <a:ext cx="7467600" cy="46101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CCA9888A-C3D6-F593-9D93-00246E753C71}"/>
              </a:ext>
            </a:extLst>
          </p:cNvPr>
          <p:cNvPicPr>
            <a:picLocks noChangeAspect="1"/>
          </p:cNvPicPr>
          <p:nvPr/>
        </p:nvPicPr>
        <p:blipFill>
          <a:blip r:embed="rId3"/>
          <a:stretch>
            <a:fillRect/>
          </a:stretch>
        </p:blipFill>
        <p:spPr>
          <a:xfrm>
            <a:off x="675957" y="1157455"/>
            <a:ext cx="8647349" cy="426885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5A23A17-79C4-B0F8-C3AA-79A421A90E9E}"/>
              </a:ext>
            </a:extLst>
          </p:cNvPr>
          <p:cNvPicPr>
            <a:picLocks noChangeAspect="1"/>
          </p:cNvPicPr>
          <p:nvPr/>
        </p:nvPicPr>
        <p:blipFill>
          <a:blip r:embed="rId3"/>
          <a:stretch>
            <a:fillRect/>
          </a:stretch>
        </p:blipFill>
        <p:spPr>
          <a:xfrm>
            <a:off x="675957" y="1365019"/>
            <a:ext cx="7467600" cy="461010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0EFB6D1D-2C89-D809-5AE5-721B5E3E196C}"/>
              </a:ext>
            </a:extLst>
          </p:cNvPr>
          <p:cNvPicPr>
            <a:picLocks noChangeAspect="1"/>
          </p:cNvPicPr>
          <p:nvPr/>
        </p:nvPicPr>
        <p:blipFill>
          <a:blip r:embed="rId3"/>
          <a:stretch>
            <a:fillRect/>
          </a:stretch>
        </p:blipFill>
        <p:spPr>
          <a:xfrm>
            <a:off x="675957" y="1348740"/>
            <a:ext cx="5153003" cy="531622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EB963E84-CB85-EA52-FE51-1E0C47CD813F}"/>
              </a:ext>
            </a:extLst>
          </p:cNvPr>
          <p:cNvSpPr txBox="1"/>
          <p:nvPr/>
        </p:nvSpPr>
        <p:spPr>
          <a:xfrm>
            <a:off x="675957" y="1067553"/>
            <a:ext cx="8321040" cy="5170646"/>
          </a:xfrm>
          <a:prstGeom prst="rect">
            <a:avLst/>
          </a:prstGeom>
          <a:noFill/>
        </p:spPr>
        <p:txBody>
          <a:bodyPr wrap="square" rtlCol="0">
            <a:spAutoFit/>
          </a:bodyPr>
          <a:lstStyle/>
          <a:p>
            <a:pPr marL="285750" lvl="0" indent="-285750">
              <a:buFont typeface="Arial" panose="020B0604020202020204" pitchFamily="34" charset="0"/>
              <a:buChar char="•"/>
            </a:pPr>
            <a:r>
              <a:rPr lang="en-IN" sz="2400" dirty="0"/>
              <a:t>Add more seasonal data from multiple years for stronger comparison.</a:t>
            </a:r>
          </a:p>
          <a:p>
            <a:pPr marL="285750" lvl="0" indent="-285750">
              <a:buFont typeface="Arial" panose="020B0604020202020204" pitchFamily="34" charset="0"/>
              <a:buChar char="•"/>
            </a:pPr>
            <a:endParaRPr lang="en-IN" sz="2400" dirty="0"/>
          </a:p>
          <a:p>
            <a:pPr marL="285750" lvl="0" indent="-285750">
              <a:buFont typeface="Arial" panose="020B0604020202020204" pitchFamily="34" charset="0"/>
              <a:buChar char="•"/>
            </a:pPr>
            <a:r>
              <a:rPr lang="en-IN" sz="2400" dirty="0"/>
              <a:t>Include region-wise climate data for deeper seasonal analysis.</a:t>
            </a:r>
          </a:p>
          <a:p>
            <a:pPr marL="285750" lvl="0" indent="-285750">
              <a:buFont typeface="Arial" panose="020B0604020202020204" pitchFamily="34" charset="0"/>
              <a:buChar char="•"/>
            </a:pPr>
            <a:r>
              <a:rPr lang="en-IN" sz="2400" dirty="0"/>
              <a:t>Study crop-specific performance across different irrigation methods.</a:t>
            </a:r>
          </a:p>
          <a:p>
            <a:pPr marL="285750" lvl="0" indent="-285750">
              <a:buFont typeface="Arial" panose="020B0604020202020204" pitchFamily="34" charset="0"/>
              <a:buChar char="•"/>
            </a:pPr>
            <a:r>
              <a:rPr lang="en-IN" sz="2400" dirty="0"/>
              <a:t>Compare cost, revenue and profit trends over time.</a:t>
            </a:r>
          </a:p>
          <a:p>
            <a:pPr marL="285750" lvl="0" indent="-285750">
              <a:buFont typeface="Arial" panose="020B0604020202020204" pitchFamily="34" charset="0"/>
              <a:buChar char="•"/>
            </a:pPr>
            <a:r>
              <a:rPr lang="en-IN" sz="2400" dirty="0"/>
              <a:t>Add market price trends to understand economic changes.</a:t>
            </a:r>
          </a:p>
          <a:p>
            <a:pPr marL="285750" lvl="0" indent="-285750">
              <a:buFont typeface="Arial" panose="020B0604020202020204" pitchFamily="34" charset="0"/>
              <a:buChar char="•"/>
            </a:pPr>
            <a:r>
              <a:rPr lang="en-IN" sz="2400" dirty="0"/>
              <a:t>Use advanced statistical methods to test seasonal differences.</a:t>
            </a:r>
          </a:p>
          <a:p>
            <a:pPr marL="285750" lvl="0" indent="-285750">
              <a:buFont typeface="Arial" panose="020B0604020202020204" pitchFamily="34" charset="0"/>
              <a:buChar char="•"/>
            </a:pPr>
            <a:r>
              <a:rPr lang="en-IN" sz="2400" dirty="0"/>
              <a:t>Build a dashboard in future for easy visual monitoring.</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CFF72CC8-00B2-4255-2743-1406B3ACC425}"/>
              </a:ext>
            </a:extLst>
          </p:cNvPr>
          <p:cNvSpPr txBox="1"/>
          <p:nvPr/>
        </p:nvSpPr>
        <p:spPr>
          <a:xfrm>
            <a:off x="781396" y="2671113"/>
            <a:ext cx="9401694" cy="369332"/>
          </a:xfrm>
          <a:prstGeom prst="rect">
            <a:avLst/>
          </a:prstGeom>
          <a:noFill/>
        </p:spPr>
        <p:txBody>
          <a:bodyPr wrap="square" rtlCol="0">
            <a:spAutoFit/>
          </a:bodyPr>
          <a:lstStyle/>
          <a:p>
            <a:r>
              <a:rPr lang="en-IN" dirty="0"/>
              <a:t>https://github.com/PrabgunMokha/Seasonal-Agriculture-Performance-Analysis.git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9442CB1-BD0B-94BE-EB44-B5E963C8CA58}"/>
              </a:ext>
            </a:extLst>
          </p:cNvPr>
          <p:cNvPicPr>
            <a:picLocks noChangeAspect="1"/>
          </p:cNvPicPr>
          <p:nvPr/>
        </p:nvPicPr>
        <p:blipFill>
          <a:blip r:embed="rId3"/>
          <a:stretch>
            <a:fillRect/>
          </a:stretch>
        </p:blipFill>
        <p:spPr>
          <a:xfrm>
            <a:off x="789551" y="1511890"/>
            <a:ext cx="8124199" cy="505655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1986</TotalTime>
  <Words>361</Words>
  <Application>Microsoft Office PowerPoint</Application>
  <PresentationFormat>Widescreen</PresentationFormat>
  <Paragraphs>43</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Trebuchet MS</vt:lpstr>
      <vt:lpstr>Wingdings</vt:lpstr>
      <vt:lpstr>Wingdings 3</vt:lpstr>
      <vt:lpstr>Facet</vt:lpstr>
      <vt:lpstr>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prabgun mokha</cp:lastModifiedBy>
  <cp:revision>98</cp:revision>
  <dcterms:created xsi:type="dcterms:W3CDTF">2021-07-11T13:13:15Z</dcterms:created>
  <dcterms:modified xsi:type="dcterms:W3CDTF">2026-09-05T12:57:32Z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